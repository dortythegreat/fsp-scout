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дея" id="{b34c221c-b12e-a5fa-b1db-03b9c4359533}">
          <p14:sldIdLst>
            <p14:sldId id="256"/>
            <p14:sldId id="257"/>
            <p14:sldId id="258"/>
          </p14:sldIdLst>
        </p14:section>
        <p14:section name="Тестирование" id="{74504cb0-7576-39ea-f479-635a0c296c29}">
          <p14:sldIdLst>
            <p14:sldId id="259"/>
            <p14:sldId id="260"/>
          </p14:sldIdLst>
        </p14:section>
        <p14:section name="Подбор" id="{439c8b3c-212f-0ed7-7d74-ede8128f87e1}">
          <p14:sldIdLst>
            <p14:sldId id="261"/>
            <p14:sldId id="262"/>
          </p14:sldIdLst>
        </p14:section>
        <p14:section name="Платформа" id="{c6991f3d-f5ef-aab9-99af-c1728e94cc7b}">
          <p14:sldIdLst>
            <p14:sldId id="263"/>
            <p14:sldId id="264"/>
            <p14:sldId id="265"/>
            <p14:sldId id="266"/>
          </p14:sldIdLst>
        </p14:section>
        <p14:section name="Итоги" id="{500f38ea-8d7e-8226-30ec-95fbd3768c98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ФСП Скаут — платформа подбора ИТ-специалистов для спецтрека ФСП на ЛЦТ 2026. Главная мысль на весь доклад: категорию кандидата определяет адаптивный тест, а инициативу проявляет работодатель.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универсальных площадках кандидат откликается вслепую, а работодатель фильтрует резюме по ключевым словам. Резюме — это самоописание, оно не подтверждает практическую компетентность.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шага. Кандидат проходит опрос и адаптивный тест и получает категорию: специализация × грейд. Работодатель описывает потребность текстом и получает ранжированную подборку. Затем сам отправляет приглашение с обязательной зарплатной вилкой; контакты кандидата раскрываются только после принятия. Достижения ФСП поднимают кандидата внутри категории, но не определяют её.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Дилемма из ТЗ: единый набор заданий утекает, а уникальные задания от нейросети несопоставимы по сложности. Решение — параметрические шаблоны: генератор строит изоморфные экземпляры и сам вычисляет ответ. Трудность и дискриминативность заданы на уровне шаблона моделью 3PL. Тест адаптивный: следующее задание выбирается под текущую оценку с балансом навыков. Не сдал — грейд не понижается принудительно; смена грейда не чаще раза в 90 дней.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Атака в симуляции: 300 честных кандидатов проходят тест на Middle по бэкенду, все их задания с ответами сливаются в общую базу. Слабый кандидат (на 0,6 ниже порога) отвечает верно на всё, что находит в базе. Единый тест — 100% сдавших. Наш тест со всеми защитами — 10% против 4% без слива. Остаточный эффект дают концептуальные вопросы с малым пулом сценариев, поэтому их не больше одного на тест.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выдачу попадают кандидаты нужной категории, открытые к предложениям и давшие согласие на показ. Итоговый балл — взвешенная сумма семи нормированных факторов. Веса экспертные и дообучаются на исходах приглашений; веса факторов соответствия не опускаются ниже 80% экспертных, чтобы модель не начала показывать тех, кто охотно соглашается, а не тех, кто подходит. Фильтры не теряют закреплённых кандидатов.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Симуляция: кандидаты с категорией по тому же адаптивному тесту и вакансии; эталонная релевантность считается по скрытым истинным навыкам, грейду, зарплате и формату. P@10 — 88% (95% ДИ 84–91%) против 48% у поиска по ключевым словам. Дообучение весов на исходах приглашений в эксперименте подняло долю согласий с 88% до 92% и P@10 с 85% до 95%. Достижения ФСП в симуляции точность почти не меняют: их ценность — независимое внешнее подтверждение.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ФСП в рамках хакатона не предоставляется, поэтому структура данных — предложение команды, а мок реализует её полностью: ФСП ID по URL-схеме Keycloak и реестр достижений с подписью RS256. Сила достижения учитывает уровень мероприятия, перцентиль места, призовое место и давность. Работодатель видит результаты с отметкой «подпись ФСП проверена» и ссылкой на протокол. Переменные для перехода: FSP_PUBLIC_URL, FSP_INTERNAL_URL, FSP_REALM, FSP_CLIENT_ID, FSP_CLIENT_SECRET.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Фронтенд — Next.js 15, React 19, TypeScript, Tailwind; он проксирует /api на бэкенд, поэтому cookie сессии остаётся first-party. Бэкенд — FastAPI, модульный монолит с явными слоями: роутеры не содержат бизнес-логики, сервисы не зависят от HTTP. Хранение — PostgreSQL 16 через SQLAlchemy 2 и Alembic; для локального запуска без Docker — SQLite. Всё поднимается одной командой docker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 принятия приглашения работодатель видит обезличенное имя, город, категорию и оценки навыков — без контактов; набор видимых полей кандидат настраивает сам. Отзыв согласия на показ сразу убирает кандидата из выдачи. Токен подтверждения почты хранится только как SHA-256 и живёт 48 часов. Попытки входа ограничены по частоте. В журнал пишутся раскрытия контактов, смены грейда, привязки ФСП и изменения согласий.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умолчанию LLM_PROVIDER=none. Подключается любой локальный OpenAI-совместимый сервер: llama.cpp или Ollama. Модель сильнее правил там, где нужно понимание текста: ФИО в английских резюме, город вне справочника, грейд и формат в потребностях, оценка ответа своими словами. Контакты одинаково хорошо извлекаются регулярными выражениями. Цена — время: до минуты на резюме, поэтому черновик по правилам появляется сразу, а модель уточняет его фоном. Разбор резюме — только черновик анкеты: на категорию он не влияет.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Готовых датасетов и эталонной разметки нет, поэтому основная процедура — симуляция с известной истиной. У синтетического кандидата есть скрытый истинный уровень; он проходит тот же код теста и ранжирования, что работает в продукте, а параметры заданий для генерации ответов намеренно отличаются от известных системе. Ошибки решения сосредоточены у самого порога. Повторяемость 75% — честная цифра: у порога любой тест конечной длины близок к монетке. Всё воспроизводится скриптами из каталога validation с фиксированными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концепции из раздела 11 документации, в MVP они не реализованы. Пилот: согласие грейда по тесту с экспертным, повторное прохождение через 1–2 недели, 5–10 работодателей-партнёров оценивают топ-10 по своим потребностям. Защита от фиктивных вакансий: верификация компании, поэтапное доверие, поведенческие сигналы риска, защищённый канал первого контакта. ATS: Хантфлоу, Potok, E-Staff, Talantix; обратная связь из ATS — более сильный сигнал для дообучения, чем принятие приглашения.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Нужен только Docker. Файл .env необязателен. Первый запуск занимает 1–2 минуты на миграции и демо-данные. Без Docker на Windows — run-local.bat, на Linux и macOS — scripts/dev.sh, с SQLite вместо PostgreSQL. Регистрация нового пользователя в демо-режиме показывает письмо с подтверждением прямо на экране.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2651760"/>
            <a:ext cx="10566806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3794760"/>
            <a:ext cx="8869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12902" y="5760720"/>
            <a:ext cx="10566806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СПЕЦТРЕК ФСП · ЛЦТ 2026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2651760"/>
            <a:ext cx="105668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ФСП Скаут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379476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Подбор ИТ-специалистов с обратной механикой: навыки подтверждает тест, а не резюме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12902" y="576072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Команда «veni vidi vivii»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ПРОБЛЕМА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Резюме не доказывает навыки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ФСП Скаут</a:t>
            </a:r>
            <a:endParaRPr lang="en-US" sz="1200" dirty="0"/>
          </a:p>
        </p:txBody>
      </p:sp>
      <p:sp>
        <p:nvSpPr>
          <p:cNvPr id="6" name="Карточка"/>
          <p:cNvSpPr/>
          <p:nvPr/>
        </p:nvSpPr>
        <p:spPr>
          <a:xfrm>
            <a:off x="812902" y="1920240"/>
            <a:ext cx="5181905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68934" y="2176272"/>
            <a:ext cx="46698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Кандидат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68934" y="2679192"/>
            <a:ext cx="46698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Откликается вслепую и узнаёт условия только в разговоре</a:t>
            </a:r>
            <a:endParaRPr lang="en-US" sz="1600" dirty="0"/>
          </a:p>
        </p:txBody>
      </p:sp>
      <p:sp>
        <p:nvSpPr>
          <p:cNvPr id="9" name="Карточка"/>
          <p:cNvSpPr/>
          <p:nvPr/>
        </p:nvSpPr>
        <p:spPr>
          <a:xfrm>
            <a:off x="6197803" y="1920240"/>
            <a:ext cx="5181905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53835" y="2176272"/>
            <a:ext cx="46698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Работодатель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453835" y="2679192"/>
            <a:ext cx="46698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Фильтрует сотни резюме по ключевым словам</a:t>
            </a:r>
            <a:endParaRPr lang="en-US" sz="1600" dirty="0"/>
          </a:p>
        </p:txBody>
      </p:sp>
      <p:sp>
        <p:nvSpPr>
          <p:cNvPr id="12" name="Вывод"/>
          <p:cNvSpPr/>
          <p:nvPr/>
        </p:nvSpPr>
        <p:spPr>
          <a:xfrm>
            <a:off x="812902" y="3886200"/>
            <a:ext cx="10566806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78662" y="3886200"/>
            <a:ext cx="983528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Совпадение слов в резюме плохо предсказывает совпадение навыков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ОБРАТНАЯ МЕХАНИКА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Работодатель приходит сам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ФСП Скаут</a:t>
            </a:r>
            <a:endParaRPr lang="en-US" sz="1200" dirty="0"/>
          </a:p>
        </p:txBody>
      </p:sp>
      <p:sp>
        <p:nvSpPr>
          <p:cNvPr id="6" name="Карточка"/>
          <p:cNvSpPr/>
          <p:nvPr/>
        </p:nvSpPr>
        <p:spPr>
          <a:xfrm>
            <a:off x="812902" y="1920240"/>
            <a:ext cx="3386938" cy="3429000"/>
          </a:xfrm>
          <a:prstGeom prst="roundRect">
            <a:avLst>
              <a:gd name="adj" fmla="val 27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68934" y="2176272"/>
            <a:ext cx="28748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1068934" y="2834640"/>
            <a:ext cx="2874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Тест даёт категорию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68934" y="3657600"/>
            <a:ext cx="287487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Специализация и грейд по адаптивному тесту. Резюме на категорию не влияет</a:t>
            </a:r>
            <a:endParaRPr lang="en-US" sz="1600" dirty="0"/>
          </a:p>
        </p:txBody>
      </p:sp>
      <p:sp>
        <p:nvSpPr>
          <p:cNvPr id="10" name="Карточка"/>
          <p:cNvSpPr/>
          <p:nvPr/>
        </p:nvSpPr>
        <p:spPr>
          <a:xfrm>
            <a:off x="4402836" y="1920240"/>
            <a:ext cx="3386938" cy="3429000"/>
          </a:xfrm>
          <a:prstGeom prst="roundRect">
            <a:avLst>
              <a:gd name="adj" fmla="val 27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58868" y="2176272"/>
            <a:ext cx="28748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658868" y="2834640"/>
            <a:ext cx="2874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Потребность даёт подборку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658868" y="3657600"/>
            <a:ext cx="287487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Текст своими словами превращается в список кандидатов, где объяснено каждое место</a:t>
            </a:r>
            <a:endParaRPr lang="en-US" sz="1600" dirty="0"/>
          </a:p>
        </p:txBody>
      </p:sp>
      <p:sp>
        <p:nvSpPr>
          <p:cNvPr id="14" name="Карточка"/>
          <p:cNvSpPr/>
          <p:nvPr/>
        </p:nvSpPr>
        <p:spPr>
          <a:xfrm>
            <a:off x="7992770" y="1920240"/>
            <a:ext cx="3386938" cy="3429000"/>
          </a:xfrm>
          <a:prstGeom prst="roundRect">
            <a:avLst>
              <a:gd name="adj" fmla="val 27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48802" y="2176272"/>
            <a:ext cx="28748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8248802" y="2834640"/>
            <a:ext cx="2874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Приглашение с вилкой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248802" y="3657600"/>
            <a:ext cx="287487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Зарплата обязательна. Контакты открываются только после согласия кандидата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МЕХАНИКА ТЕСТИРОВАНИЯ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Тест, который нельзя списать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ФСП Скаут</a:t>
            </a:r>
            <a:endParaRPr lang="en-US" sz="1200" dirty="0"/>
          </a:p>
        </p:txBody>
      </p:sp>
      <p:sp>
        <p:nvSpPr>
          <p:cNvPr id="6" name="Карточка"/>
          <p:cNvSpPr/>
          <p:nvPr/>
        </p:nvSpPr>
        <p:spPr>
          <a:xfrm>
            <a:off x="812902" y="1920240"/>
            <a:ext cx="3386938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68934" y="2176272"/>
            <a:ext cx="2874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Шаблоны-генераторы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68934" y="2999232"/>
            <a:ext cx="287487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84 шаблона строят из seed новые числа, код и варианты. Ответ вычисляется, а не хранится в банке</a:t>
            </a:r>
            <a:endParaRPr lang="en-US" sz="1600" dirty="0"/>
          </a:p>
        </p:txBody>
      </p:sp>
      <p:sp>
        <p:nvSpPr>
          <p:cNvPr id="9" name="Карточка"/>
          <p:cNvSpPr/>
          <p:nvPr/>
        </p:nvSpPr>
        <p:spPr>
          <a:xfrm>
            <a:off x="4402836" y="1920240"/>
            <a:ext cx="3386938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58868" y="2176272"/>
            <a:ext cx="2874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Модель IRT 3PL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658868" y="2999232"/>
            <a:ext cx="287487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Трудность задана шаблоном и калибруется по ответам: все кандидаты на одной шкале</a:t>
            </a:r>
            <a:endParaRPr lang="en-US" sz="1600" dirty="0"/>
          </a:p>
        </p:txBody>
      </p:sp>
      <p:sp>
        <p:nvSpPr>
          <p:cNvPr id="12" name="Карточка"/>
          <p:cNvSpPr/>
          <p:nvPr/>
        </p:nvSpPr>
        <p:spPr>
          <a:xfrm>
            <a:off x="7992770" y="1920240"/>
            <a:ext cx="3386938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48802" y="2176272"/>
            <a:ext cx="2874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Адаптивный тест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248802" y="2999232"/>
            <a:ext cx="287487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Останавливается, когда грейд определён с уверенностью 95%: в среднем 19 заданий, максимум 25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12902" y="489204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Экземпляры одного шаблона решаются одинаково и равны по трудности, но ответ у каждого кандидата свой.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УСТОЙЧИВОСТЬ К УТЕЧКАМ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Слив ответов почти не помогает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ФСП Скаут · симуляция, validation/testing_study.py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187452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Слабый кандидат с базой ответов из 300 прохождений: доля сдавших Middle. Без слива — 4%.</a:t>
            </a:r>
            <a:endParaRPr lang="en-US" sz="1600" dirty="0"/>
          </a:p>
        </p:txBody>
      </p:sp>
      <p:sp>
        <p:nvSpPr>
          <p:cNvPr id="7" name="Карточка"/>
          <p:cNvSpPr/>
          <p:nvPr/>
        </p:nvSpPr>
        <p:spPr>
          <a:xfrm>
            <a:off x="812902" y="2423160"/>
            <a:ext cx="338693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68934" y="2624328"/>
            <a:ext cx="28748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100%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1068934" y="3685032"/>
            <a:ext cx="2874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Единый тест для всех</a:t>
            </a:r>
            <a:endParaRPr lang="en-US" sz="1600" dirty="0"/>
          </a:p>
        </p:txBody>
      </p:sp>
      <p:sp>
        <p:nvSpPr>
          <p:cNvPr id="10" name="Карточка"/>
          <p:cNvSpPr/>
          <p:nvPr/>
        </p:nvSpPr>
        <p:spPr>
          <a:xfrm>
            <a:off x="4402836" y="2423160"/>
            <a:ext cx="338693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58868" y="2624328"/>
            <a:ext cx="28748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66%</a:t>
            </a:r>
            <a:endParaRPr lang="en-US" sz="6000" dirty="0"/>
          </a:p>
        </p:txBody>
      </p:sp>
      <p:sp>
        <p:nvSpPr>
          <p:cNvPr id="12" name="Text 9"/>
          <p:cNvSpPr txBox="1"/>
          <p:nvPr/>
        </p:nvSpPr>
        <p:spPr>
          <a:xfrm>
            <a:off x="4658868" y="3685032"/>
            <a:ext cx="2874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Только шаблоны, без журнала показов</a:t>
            </a:r>
            <a:endParaRPr lang="en-US" sz="1600" dirty="0"/>
          </a:p>
        </p:txBody>
      </p:sp>
      <p:sp>
        <p:nvSpPr>
          <p:cNvPr id="13" name="Наш результат"/>
          <p:cNvSpPr/>
          <p:nvPr/>
        </p:nvSpPr>
        <p:spPr>
          <a:xfrm>
            <a:off x="7992770" y="2423160"/>
            <a:ext cx="3386938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48802" y="2624328"/>
            <a:ext cx="28748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10%</a:t>
            </a:r>
            <a:endParaRPr lang="en-US" sz="6000" dirty="0"/>
          </a:p>
        </p:txBody>
      </p:sp>
      <p:sp>
        <p:nvSpPr>
          <p:cNvPr id="15" name="Text 12"/>
          <p:cNvSpPr txBox="1"/>
          <p:nvPr/>
        </p:nvSpPr>
        <p:spPr>
          <a:xfrm>
            <a:off x="8248802" y="3685032"/>
            <a:ext cx="2874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Наш тест, все защиты включены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2902" y="4754880"/>
            <a:ext cx="105668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Защиты: уникальные экземпляры · журнал отпечатков показов · не больше одного концептуального вопроса · проверка согласованности ответов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МЕХАНИКА ПОДБОРА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Семь объяснимых факторов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ФСП Скаут · у каждого кандидата: плюсы, минусы и вклад факторов в баллах</a:t>
            </a:r>
            <a:endParaRPr lang="en-US" sz="1200" dirty="0"/>
          </a:p>
        </p:txBody>
      </p:sp>
      <p:graphicFrame>
        <p:nvGraphicFramePr>
          <p:cNvPr id="7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874520"/>
          <a:ext cx="10566806" cy="914400"/>
        </p:xfrm>
        <a:graphic>
          <a:graphicData uri="http://schemas.openxmlformats.org/drawingml/2006/table">
            <a:tbl>
              <a:tblPr/>
              <a:tblGrid>
                <a:gridCol w="3172968"/>
                <a:gridCol w="5916168"/>
                <a:gridCol w="147767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Фактор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Что измеряет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Вес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Навыки под задачу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Оценка по тесту против требуемой для грейда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0,38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Сила результата теста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Насколько уровень выше порога своего грейда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0,18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Грейд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Совпадение категории с потребностью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0,12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Достижения ФСП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Сила результатов, подтверждённых подписью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0,12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Зарплатные ожидания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Пересечение вилки и ожиданий кандидата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0,09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Актуальность профиля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Давность последнего теста или задания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Формат работы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Совпадение формата и города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0,05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ТОЧНОСТЬ ПОДБОРА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Точнее поиска по резюме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ФСП Скаут · симуляция, validation/matching_study.py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2194560"/>
            <a:ext cx="3386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88%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812902" y="3200400"/>
            <a:ext cx="3112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релевантных в топ-10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у нашего ранжировщика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402836" y="2194560"/>
            <a:ext cx="3386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</a:rPr>
              <a:t>58%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4402836" y="3200400"/>
            <a:ext cx="3112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только категория по тесту, без ранжирования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992770" y="2194560"/>
            <a:ext cx="3386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</a:rPr>
              <a:t>48%</a:t>
            </a:r>
            <a:endParaRPr lang="en-US" sz="6000" dirty="0"/>
          </a:p>
        </p:txBody>
      </p:sp>
      <p:sp>
        <p:nvSpPr>
          <p:cNvPr id="11" name="Text 8"/>
          <p:cNvSpPr txBox="1"/>
          <p:nvPr/>
        </p:nvSpPr>
        <p:spPr>
          <a:xfrm>
            <a:off x="7992770" y="3200400"/>
            <a:ext cx="3112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поиск по ключевым словам резюме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2902" y="466344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Чем сильнее приукрашены резюме, тем больше разрыв: тест не зависит от того, что человек написал о себе.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ИНТЕГРАЦИЯ С ФСП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Достижения ФСП с подписью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ФСП Скаут</a:t>
            </a:r>
            <a:endParaRPr lang="en-US" sz="1200" dirty="0"/>
          </a:p>
        </p:txBody>
      </p:sp>
      <p:sp>
        <p:nvSpPr>
          <p:cNvPr id="6" name="Карточка"/>
          <p:cNvSpPr/>
          <p:nvPr/>
        </p:nvSpPr>
        <p:spPr>
          <a:xfrm>
            <a:off x="812902" y="1920240"/>
            <a:ext cx="2489454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14070" y="2121408"/>
            <a:ext cx="2087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14070" y="2578608"/>
            <a:ext cx="20871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Вход по ФСП ID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14070" y="2971800"/>
            <a:ext cx="20871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Кандидат входит и даёт согласие: OIDC с PKCE</a:t>
            </a:r>
            <a:endParaRPr lang="en-US" sz="1200" dirty="0"/>
          </a:p>
        </p:txBody>
      </p:sp>
      <p:sp>
        <p:nvSpPr>
          <p:cNvPr id="10" name="Карточка"/>
          <p:cNvSpPr/>
          <p:nvPr/>
        </p:nvSpPr>
        <p:spPr>
          <a:xfrm>
            <a:off x="3505352" y="1920240"/>
            <a:ext cx="2489454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06520" y="2121408"/>
            <a:ext cx="2087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706520" y="2578608"/>
            <a:ext cx="20871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Проверка токена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706520" y="2971800"/>
            <a:ext cx="20871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Подпись id_token сверяется с ключами JWKS</a:t>
            </a:r>
            <a:endParaRPr lang="en-US" sz="1200" dirty="0"/>
          </a:p>
        </p:txBody>
      </p:sp>
      <p:sp>
        <p:nvSpPr>
          <p:cNvPr id="14" name="Карточка"/>
          <p:cNvSpPr/>
          <p:nvPr/>
        </p:nvSpPr>
        <p:spPr>
          <a:xfrm>
            <a:off x="6197803" y="1920240"/>
            <a:ext cx="2489454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98971" y="2121408"/>
            <a:ext cx="2087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398971" y="2578608"/>
            <a:ext cx="20871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Запрос в реестр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98971" y="2971800"/>
            <a:ext cx="20871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Достижения получает сервис-аккаунт платформы</a:t>
            </a:r>
            <a:endParaRPr lang="en-US" sz="1200" dirty="0"/>
          </a:p>
        </p:txBody>
      </p:sp>
      <p:sp>
        <p:nvSpPr>
          <p:cNvPr id="18" name="Карточка"/>
          <p:cNvSpPr/>
          <p:nvPr/>
        </p:nvSpPr>
        <p:spPr>
          <a:xfrm>
            <a:off x="8890254" y="1920240"/>
            <a:ext cx="2489454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091422" y="2121408"/>
            <a:ext cx="2087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091422" y="2578608"/>
            <a:ext cx="20871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Проверка подписи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091422" y="2971800"/>
            <a:ext cx="20871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Каждое достижение подписано реестром: JWS RS256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12902" y="4434840"/>
            <a:ext cx="49990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Нет истории ФСП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— штатный случай: фактор равен нулю без штрафа, категорию даёт тест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197803" y="4434840"/>
            <a:ext cx="49990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Мок повторяет URL-схему Keycloak: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переход на боевой ФСП ID — смена пяти переменных окружения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АРХИТЕКТУРА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Модульный монолит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ФСП Скаут · логика теста и ранжирования — чистые функции: валидация гоняет тот же код, что продукт</a:t>
            </a:r>
            <a:endParaRPr lang="en-US" sz="1200" dirty="0"/>
          </a:p>
        </p:txBody>
      </p:sp>
      <p:sp>
        <p:nvSpPr>
          <p:cNvPr id="6" name="Компонент"/>
          <p:cNvSpPr/>
          <p:nvPr/>
        </p:nvSpPr>
        <p:spPr>
          <a:xfrm>
            <a:off x="812902" y="1874520"/>
            <a:ext cx="23317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14070" y="2057400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Браузер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14070" y="2386584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три роли</a:t>
            </a:r>
            <a:endParaRPr lang="en-US" sz="1200" dirty="0"/>
          </a:p>
        </p:txBody>
      </p:sp>
      <p:sp>
        <p:nvSpPr>
          <p:cNvPr id="9" name="Стрелка"/>
          <p:cNvSpPr/>
          <p:nvPr/>
        </p:nvSpPr>
        <p:spPr>
          <a:xfrm>
            <a:off x="3217774" y="2331720"/>
            <a:ext cx="267005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Компонент"/>
          <p:cNvSpPr/>
          <p:nvPr/>
        </p:nvSpPr>
        <p:spPr>
          <a:xfrm>
            <a:off x="3557930" y="1874520"/>
            <a:ext cx="23317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59098" y="2057400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Next.js 15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759098" y="2386584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кабинеты, прокси /api</a:t>
            </a:r>
            <a:endParaRPr lang="en-US" sz="1200" dirty="0"/>
          </a:p>
        </p:txBody>
      </p:sp>
      <p:sp>
        <p:nvSpPr>
          <p:cNvPr id="13" name="Стрелка"/>
          <p:cNvSpPr/>
          <p:nvPr/>
        </p:nvSpPr>
        <p:spPr>
          <a:xfrm>
            <a:off x="5962802" y="2331720"/>
            <a:ext cx="267005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4" name="Компонент"/>
          <p:cNvSpPr/>
          <p:nvPr/>
        </p:nvSpPr>
        <p:spPr>
          <a:xfrm>
            <a:off x="6302959" y="1874520"/>
            <a:ext cx="23317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4127" y="2057400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FastAPI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504127" y="2386584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REST API, OpenAPI</a:t>
            </a:r>
            <a:endParaRPr lang="en-US" sz="1200" dirty="0"/>
          </a:p>
        </p:txBody>
      </p:sp>
      <p:sp>
        <p:nvSpPr>
          <p:cNvPr id="17" name="Стрелка"/>
          <p:cNvSpPr/>
          <p:nvPr/>
        </p:nvSpPr>
        <p:spPr>
          <a:xfrm>
            <a:off x="8707831" y="2331720"/>
            <a:ext cx="267005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Компонент"/>
          <p:cNvSpPr/>
          <p:nvPr/>
        </p:nvSpPr>
        <p:spPr>
          <a:xfrm>
            <a:off x="9047988" y="1874520"/>
            <a:ext cx="23317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49156" y="2057400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PostgreSQL 16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249156" y="2386584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миграции Alembic</a:t>
            </a:r>
            <a:endParaRPr lang="en-US" sz="1200" dirty="0"/>
          </a:p>
        </p:txBody>
      </p:sp>
      <p:sp>
        <p:nvSpPr>
          <p:cNvPr id="21" name="Сервисы бэкенда"/>
          <p:cNvSpPr/>
          <p:nvPr/>
        </p:nvSpPr>
        <p:spPr>
          <a:xfrm>
            <a:off x="812902" y="3063240"/>
            <a:ext cx="67665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68934" y="3282696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Сервисы бэкенда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68934" y="374904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testing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— банк, IRT, адаптивный тест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196182" y="374904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matching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— ранжирование, дообучение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68934" y="405079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fsp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— OIDC и реестр достижений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196182" y="405079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llm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— единый интерфейс к модели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068934" y="435254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resume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— PDF-резюме и PDF-профиль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196182" y="435254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nlp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— разбор текстов правилами</a:t>
            </a:r>
            <a:endParaRPr lang="en-US" sz="1200" dirty="0"/>
          </a:p>
        </p:txBody>
      </p:sp>
      <p:sp>
        <p:nvSpPr>
          <p:cNvPr id="29" name="Внешняя система"/>
          <p:cNvSpPr/>
          <p:nvPr/>
        </p:nvSpPr>
        <p:spPr>
          <a:xfrm>
            <a:off x="7782458" y="3063240"/>
            <a:ext cx="359725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83626" y="3191256"/>
            <a:ext cx="3194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ФСП ID и реестр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983626" y="3520440"/>
            <a:ext cx="3194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внешняя система, в демо — мок</a:t>
            </a:r>
            <a:endParaRPr lang="en-US" sz="1200" dirty="0"/>
          </a:p>
        </p:txBody>
      </p:sp>
      <p:sp>
        <p:nvSpPr>
          <p:cNvPr id="32" name="Внешняя система"/>
          <p:cNvSpPr/>
          <p:nvPr/>
        </p:nvSpPr>
        <p:spPr>
          <a:xfrm>
            <a:off x="7782458" y="4023360"/>
            <a:ext cx="359725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7983626" y="4151376"/>
            <a:ext cx="3194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Локальная LLM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7983626" y="4480560"/>
            <a:ext cx="3194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необязательна, выключена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БЕЗОПАСНОСТЬ И 152-ФЗ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Данные кандидата под защитой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ФСП Скаут · каждое раскрытие контактов пишется в журнал</a:t>
            </a:r>
            <a:endParaRPr lang="en-US" sz="1200" dirty="0"/>
          </a:p>
        </p:txBody>
      </p:sp>
      <p:sp>
        <p:nvSpPr>
          <p:cNvPr id="6" name="Карточка"/>
          <p:cNvSpPr/>
          <p:nvPr/>
        </p:nvSpPr>
        <p:spPr>
          <a:xfrm>
            <a:off x="812902" y="1920240"/>
            <a:ext cx="338693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68934" y="2176272"/>
            <a:ext cx="2874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Контакты по согласию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68934" y="2587752"/>
            <a:ext cx="28748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До принятия приглашения работодатель видит обезличенный профиль</a:t>
            </a:r>
            <a:endParaRPr lang="en-US" sz="1200" dirty="0"/>
          </a:p>
        </p:txBody>
      </p:sp>
      <p:sp>
        <p:nvSpPr>
          <p:cNvPr id="9" name="Карточка"/>
          <p:cNvSpPr/>
          <p:nvPr/>
        </p:nvSpPr>
        <p:spPr>
          <a:xfrm>
            <a:off x="4402836" y="1920240"/>
            <a:ext cx="338693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58868" y="2176272"/>
            <a:ext cx="2874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Согласия с историей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658868" y="2587752"/>
            <a:ext cx="28748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Обработка ПДн, показ профиля, данные ФСП: дата, версия текста, IP</a:t>
            </a:r>
            <a:endParaRPr lang="en-US" sz="1200" dirty="0"/>
          </a:p>
        </p:txBody>
      </p:sp>
      <p:sp>
        <p:nvSpPr>
          <p:cNvPr id="12" name="Карточка"/>
          <p:cNvSpPr/>
          <p:nvPr/>
        </p:nvSpPr>
        <p:spPr>
          <a:xfrm>
            <a:off x="7992770" y="1920240"/>
            <a:ext cx="338693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48802" y="2176272"/>
            <a:ext cx="2874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Право на удаление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48802" y="2587752"/>
            <a:ext cx="28748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Удаление аккаунта каскадно стирает профиль и связанные данные</a:t>
            </a:r>
            <a:endParaRPr lang="en-US" sz="1200" dirty="0"/>
          </a:p>
        </p:txBody>
      </p:sp>
      <p:sp>
        <p:nvSpPr>
          <p:cNvPr id="15" name="Карточка"/>
          <p:cNvSpPr/>
          <p:nvPr/>
        </p:nvSpPr>
        <p:spPr>
          <a:xfrm>
            <a:off x="812902" y="3723437"/>
            <a:ext cx="338693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68934" y="3979469"/>
            <a:ext cx="2874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Защищённая сессия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068934" y="4390949"/>
            <a:ext cx="28748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Пароли — Argon2id, токен — в HttpOnly-cookie, недоступной скриптам</a:t>
            </a:r>
            <a:endParaRPr lang="en-US" sz="1200" dirty="0"/>
          </a:p>
        </p:txBody>
      </p:sp>
      <p:sp>
        <p:nvSpPr>
          <p:cNvPr id="18" name="Карточка"/>
          <p:cNvSpPr/>
          <p:nvPr/>
        </p:nvSpPr>
        <p:spPr>
          <a:xfrm>
            <a:off x="4402836" y="3723437"/>
            <a:ext cx="338693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58868" y="3979469"/>
            <a:ext cx="2874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Чужое не видно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658868" y="4390949"/>
            <a:ext cx="28748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Запрос чужого объекта возвращает 404 и не раскрывает, что он есть</a:t>
            </a:r>
            <a:endParaRPr lang="en-US" sz="1200" dirty="0"/>
          </a:p>
        </p:txBody>
      </p:sp>
      <p:sp>
        <p:nvSpPr>
          <p:cNvPr id="21" name="Карточка"/>
          <p:cNvSpPr/>
          <p:nvPr/>
        </p:nvSpPr>
        <p:spPr>
          <a:xfrm>
            <a:off x="7992770" y="3723437"/>
            <a:ext cx="338693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48802" y="3979469"/>
            <a:ext cx="2874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Ключ ответа скрыт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248802" y="4390949"/>
            <a:ext cx="28748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Во время теста клиент не получает правильный ответ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ЛОКАЛЬНАЯ LLM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LLM — опция, а не зависимость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ФСП Скаут · Gemma 4 E4B на GTX 1650, отложенный набор синтетических текстов</a:t>
            </a:r>
            <a:endParaRPr lang="en-US" sz="1200" dirty="0"/>
          </a:p>
        </p:txBody>
      </p:sp>
      <p:sp>
        <p:nvSpPr>
          <p:cNvPr id="6" name="Карточка"/>
          <p:cNvSpPr/>
          <p:nvPr/>
        </p:nvSpPr>
        <p:spPr>
          <a:xfrm>
            <a:off x="812902" y="1920240"/>
            <a:ext cx="5181905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68934" y="2121408"/>
            <a:ext cx="46698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20 → 57%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1068934" y="3200400"/>
            <a:ext cx="46698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резюме, разобранных без единой ошибки: правила против гибрида с моделью</a:t>
            </a:r>
            <a:endParaRPr lang="en-US" sz="1600" dirty="0"/>
          </a:p>
        </p:txBody>
      </p:sp>
      <p:sp>
        <p:nvSpPr>
          <p:cNvPr id="9" name="Карточка"/>
          <p:cNvSpPr/>
          <p:nvPr/>
        </p:nvSpPr>
        <p:spPr>
          <a:xfrm>
            <a:off x="6197803" y="1920240"/>
            <a:ext cx="5181905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53835" y="2121408"/>
            <a:ext cx="46698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79 → 94%</a:t>
            </a:r>
            <a:endParaRPr lang="en-US" sz="6000" dirty="0"/>
          </a:p>
        </p:txBody>
      </p:sp>
      <p:sp>
        <p:nvSpPr>
          <p:cNvPr id="11" name="Text 8"/>
          <p:cNvSpPr txBox="1"/>
          <p:nvPr/>
        </p:nvSpPr>
        <p:spPr>
          <a:xfrm>
            <a:off x="6453835" y="3200400"/>
            <a:ext cx="46698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верных отметок по критериям при автооценке ответов на задания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2902" y="448056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Без модели платформа полностью работает на правилах. Модель запускается локально, тексты не покидают сервер, а медленные вызовы идут фоном.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ВАЛИДАЦИЯ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Что показала симуляция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ФСП Скаут · тот же код, что в продукте; параметры заданий намеренно искажены</a:t>
            </a:r>
            <a:endParaRPr lang="en-US" sz="1200" dirty="0"/>
          </a:p>
        </p:txBody>
      </p:sp>
      <p:graphicFrame>
        <p:nvGraphicFramePr>
          <p:cNvPr id="13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874520"/>
          <a:ext cx="10566806" cy="914400"/>
        </p:xfrm>
        <a:graphic>
          <a:graphicData uri="http://schemas.openxmlformats.org/drawingml/2006/table">
            <a:tbl>
              <a:tblPr/>
              <a:tblGrid>
                <a:gridCol w="7589520"/>
                <a:gridCol w="2977286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Что проверяем</a:t>
                      </a:r>
                      <a:endParaRPr lang="en-US" sz="16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Результат</a:t>
                      </a:r>
                      <a:endParaRPr lang="en-US" sz="16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Решение о грейде вдали от порога</a:t>
                      </a:r>
                      <a:endParaRPr lang="en-US" sz="16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91% верных</a:t>
                      </a:r>
                      <a:endParaRPr lang="en-US" sz="16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Категория ошибается не больше чем на грейд</a:t>
                      </a:r>
                      <a:endParaRPr lang="en-US" sz="16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99,8%</a:t>
                      </a:r>
                      <a:endParaRPr lang="en-US" sz="16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Повторяемость решения при пересдаче</a:t>
                      </a:r>
                      <a:endParaRPr lang="en-US" sz="16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75%, κ = 0,47</a:t>
                      </a:r>
                      <a:endParaRPr lang="en-US" sz="16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Шаблоны с дискриминативностью выше 0,2</a:t>
                      </a:r>
                      <a:endParaRPr lang="en-US" sz="16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99%</a:t>
                      </a:r>
                      <a:endParaRPr lang="en-US" sz="16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Ложные флаги списывания у честных</a:t>
                      </a:r>
                      <a:endParaRPr lang="en-US" sz="16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около 1%</a:t>
                      </a:r>
                      <a:endParaRPr lang="en-US" sz="16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12902" y="470916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Симуляция проверяет механику, а не содержание заданий. Следующий шаг — проверка на участниках ФСП.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ЗА РАМКАМИ MVP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Что дальше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ФСП Скаут</a:t>
            </a:r>
            <a:endParaRPr lang="en-US" sz="1200" dirty="0"/>
          </a:p>
        </p:txBody>
      </p:sp>
      <p:sp>
        <p:nvSpPr>
          <p:cNvPr id="6" name="Карточка"/>
          <p:cNvSpPr/>
          <p:nvPr/>
        </p:nvSpPr>
        <p:spPr>
          <a:xfrm>
            <a:off x="812902" y="1920240"/>
            <a:ext cx="3386938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68934" y="2176272"/>
            <a:ext cx="2874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Пилот с ФСП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68934" y="2999232"/>
            <a:ext cx="287487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Тест 30–50 участников с известным уровнем, интервью вслепую, калибровка по реальным ответам</a:t>
            </a:r>
            <a:endParaRPr lang="en-US" sz="1600" dirty="0"/>
          </a:p>
        </p:txBody>
      </p:sp>
      <p:sp>
        <p:nvSpPr>
          <p:cNvPr id="9" name="Карточка"/>
          <p:cNvSpPr/>
          <p:nvPr/>
        </p:nvSpPr>
        <p:spPr>
          <a:xfrm>
            <a:off x="4402836" y="1920240"/>
            <a:ext cx="3386938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58868" y="2176272"/>
            <a:ext cx="2874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Доверие к компании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658868" y="2999232"/>
            <a:ext cx="287487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Проверка по ЕГРЮЛ, лимиты для новых компаний, жалобы и модерация приглашений</a:t>
            </a:r>
            <a:endParaRPr lang="en-US" sz="1600" dirty="0"/>
          </a:p>
        </p:txBody>
      </p:sp>
      <p:sp>
        <p:nvSpPr>
          <p:cNvPr id="12" name="Карточка"/>
          <p:cNvSpPr/>
          <p:nvPr/>
        </p:nvSpPr>
        <p:spPr>
          <a:xfrm>
            <a:off x="7992770" y="1920240"/>
            <a:ext cx="3386938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48802" y="2176272"/>
            <a:ext cx="28748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Интеграция с ATS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248802" y="2999232"/>
            <a:ext cx="287487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Webhook-события с подписью, коннекторы к ATS, импорт вакансий как потребностей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12902" y="489204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 механиках: оценка на каждый навык, задания с выполнением кода в песочнице, учёт времени ответа.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813816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ДЕМО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10972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Запуск одной командой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199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Команда «veni vidi vivii» · Кулешов Александр, Доровской Иван</a:t>
            </a:r>
            <a:endParaRPr lang="en-US" sz="1200" dirty="0"/>
          </a:p>
        </p:txBody>
      </p:sp>
      <p:sp>
        <p:nvSpPr>
          <p:cNvPr id="6" name="Команда запуска"/>
          <p:cNvSpPr/>
          <p:nvPr/>
        </p:nvSpPr>
        <p:spPr>
          <a:xfrm>
            <a:off x="812902" y="1920240"/>
            <a:ext cx="10566806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32942" y="1920240"/>
            <a:ext cx="99267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12902" y="3108960"/>
            <a:ext cx="5181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Адреса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2902" y="3493008"/>
            <a:ext cx="51819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 — приложение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localhost:3000/api/docs — Swagger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localhost:8001 — мок ФСП ID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197803" y="3108960"/>
            <a:ext cx="5181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Демо-аккаунты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197803" y="3493008"/>
            <a:ext cx="51819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candidate@demo.ru — кандидат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employer@demo.ru — работодатель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admin@demo.ru — администратор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12902" y="47548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При первом старте создаются 300 синтетических кандидатов, прошедших настоящий адаптивный тест. Пароли — в README.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5308" y="61996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SP Scout">
  <a:themeElements>
    <a:clrScheme name="FSP Scout">
      <a:dk1>
        <a:srgbClr val="1C1D22"/>
      </a:dk1>
      <a:lt1>
        <a:srgbClr val="F6F4FA"/>
      </a:lt1>
      <a:dk2>
        <a:srgbClr val="2D1451"/>
      </a:dk2>
      <a:lt2>
        <a:srgbClr val="FDFCFE"/>
      </a:lt2>
      <a:accent1>
        <a:srgbClr val="FF0053"/>
      </a:accent1>
      <a:accent2>
        <a:srgbClr val="520977"/>
      </a:accent2>
      <a:accent3>
        <a:srgbClr val="8A83D1"/>
      </a:accent3>
      <a:accent4>
        <a:srgbClr val="D3D0EE"/>
      </a:accent4>
      <a:accent5>
        <a:srgbClr val="4A4560"/>
      </a:accent5>
      <a:accent6>
        <a:srgbClr val="6B6580"/>
      </a:accent6>
      <a:hlink>
        <a:srgbClr val="520977"/>
      </a:hlink>
      <a:folHlink>
        <a:srgbClr val="8A83D1"/>
      </a:folHlink>
    </a:clrScheme>
    <a:fontScheme name="FSP Scou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ФСП Скаут — презентация проекта</dc:title>
  <dc:subject>PptxGenJS Presentation</dc:subject>
  <dc:creator>Команда «veni vidi vivii»</dc:creator>
  <cp:lastModifiedBy>Команда «veni vidi vivii»</cp:lastModifiedBy>
  <cp:revision>1</cp:revision>
  <dcterms:created xsi:type="dcterms:W3CDTF">2026-10-10T16:44:05Z</dcterms:created>
  <dcterms:modified xsi:type="dcterms:W3CDTF">2026-10-10T16:44:05Z</dcterms:modified>
</cp:coreProperties>
</file>